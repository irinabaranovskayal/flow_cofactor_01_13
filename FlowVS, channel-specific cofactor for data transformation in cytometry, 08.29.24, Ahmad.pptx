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81" r:id="rId3"/>
    <p:sldId id="279" r:id="rId4"/>
    <p:sldId id="315" r:id="rId5"/>
    <p:sldId id="313" r:id="rId6"/>
    <p:sldId id="319" r:id="rId7"/>
    <p:sldId id="311" r:id="rId8"/>
    <p:sldId id="316" r:id="rId9"/>
    <p:sldId id="31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3"/>
    <p:restoredTop sz="94957"/>
  </p:normalViewPr>
  <p:slideViewPr>
    <p:cSldViewPr snapToGrid="0">
      <p:cViewPr varScale="1">
        <p:scale>
          <a:sx n="211" d="100"/>
          <a:sy n="211" d="100"/>
        </p:scale>
        <p:origin x="1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7671-2B65-4CB6-7592-F76DE891B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205D9-9F78-DB27-8705-62E897BCB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66C56-73E9-93C2-1259-30B897C8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B12C6-F39C-59DC-6BBD-6A6C7D80C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28D14-E9DD-BC8D-A393-E38A41F7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26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8E59C-6C92-1E4A-5D1E-4B6858CD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8FE05-2697-7040-5410-50507958A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18B6C-721C-988B-6551-67B9FBCC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0B718-089F-6688-99DE-0D3DF781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BE299-0EFE-4386-4038-4D574B30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262E-20AF-5162-E088-585C9F7E5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A600E-5D4A-743A-5311-F6EC772DA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8A490-03F7-3A8B-9EA1-6DA4FA83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BE2DA-5AE0-3B12-6CE6-6102395A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446E0-8CA8-B547-3EDB-F262838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3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8869-942D-017E-EFEA-D85E8389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0EE3F-9676-6044-04A7-1F3BFC671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875B4-DC1A-2B14-8E0A-7B8AF6016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F88D1-6B26-FC78-2933-36182B292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F8E23-3C4A-646B-4735-CA7C9446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A3AB4-FEEC-8B26-778F-75B4C072E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04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4277-3D5F-988B-FED7-0C1FEC60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6F4DF-E33C-35E4-6454-DA51E5D50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1A125-CDD7-8DFD-BF31-468BDE51B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47678A-551D-4E95-FFC6-A1A289599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C2E91B-0421-5FBC-FC1C-3A281DC8A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FB85D-26A6-EB21-C6EE-DD69A349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5F11E2-FFF2-1244-ECC7-2298D3038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BC486D-1D9D-F8F4-D2F1-070EDC85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AD20-F9A4-0683-5B01-A006B5121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A4C05-4D53-C6C7-B0C5-E29EE708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D5011-101B-289A-B1C5-96E2F090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CA05F-07CD-3977-C84F-78CC0EFEF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7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647AE-655A-9BDA-C38B-312F8A18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8965D-939A-8689-143A-7B7A37B3B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3D465-AE34-D5B5-B01F-602E5E5A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1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6ACD6-7147-63CE-4188-7997330E2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CC1E-2588-B8D8-3C27-3E00142E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1E131-4E87-4EEF-3B91-C6891C371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73415-8CB4-D6E2-3090-58C2E774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E2D8C-FFE7-4ECA-B44B-D4CBAF00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A0D87-BBBE-947E-4796-4F2FFD3F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5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91DC-E338-3B42-6815-8D976EF9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3F2B72-CAF2-533D-2A9C-1978EAC64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320C3-EABF-0057-09FC-41272BB00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14286-DAC0-B8FF-534D-7A3C42A2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C4008-B475-5DF1-E2EA-4B930393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A4B37-7F80-F381-75CD-1C2D76DC8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FBE1-4352-96D4-7ED4-46D2A22BC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AC141-6F0F-3DCD-52FD-CB89BCE86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0DEB0-CFDD-AD73-12F5-1A5D7E8E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2AD2B-234A-28ED-E9A3-EF0AA990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3F475-55C7-EA03-8810-EEC82ACDD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6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2DF823-6785-98CF-320A-5F571A54D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9C74B-5767-1A97-1655-110DCC5F8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759C7-716C-B2E7-38D1-27538D56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5D5D1-212C-0601-DE7D-4CF4C561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AB2BA-CE6D-18ED-69C8-1BCD496E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042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06F9-CD25-E428-2FB0-DEB50311A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AC697B-05E2-E0FF-A13A-39E41023E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DD61D-C34C-AA7C-2382-AC260A883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4DAEA-57D9-2F47-DF81-A7B627883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973C1-48A2-C173-D942-675BAE12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36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D723-F204-196C-D220-97E68FA45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38412-0F59-ECB4-EBC0-0E16A5BB1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1E4CC-EA14-3486-B12B-63E22933A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B3E0E-7F05-CB30-A2DB-4E626DD0C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6A6FC-1E62-38DE-CF96-2FB8CF70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35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37CA-8063-5AC7-6A49-7DC1396E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27A79-141F-DF7A-1147-222E6456B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1174E-10A9-A36A-DB90-7DEEDB11A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00F5E-CC38-C443-68A8-B0A504D55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0F52B-558A-2F6E-FF17-F57D58D2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96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FE6B7-C0CC-0465-BE77-D8B6BD12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E82B1-5EB5-7198-0097-512255E0F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9052D-5192-1E28-8DC9-828DC3FBA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EE8A5-2917-AA42-CD7C-7B41CD649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870BE-310F-AA17-4897-C76990A3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18E69-002A-C21B-EAD2-E3FB7DD4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35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E855-89EC-2B9A-2D8B-C51E5F22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83393-B146-EB2A-BFA5-D4A511D99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0C25B-45DF-FB65-E379-85347FC68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5A2EF-793F-99EC-D41A-E5ECB5140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81A78-ADA1-E91C-5F2F-722801AB6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16476F-EF57-5632-D577-3525BE7E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BFAAB4-097A-BB91-FB66-81DFCE4E1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92A5A-7BD5-CD91-94D2-B3748BE4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70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81E6-FC15-13E0-9FCA-5C5002FD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26D10-3F9E-B163-BC2A-EA36A69F8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AD39B-5175-1B49-FCFC-B54CEE2F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0FC9D-9E9E-A4DE-0DFA-E7F837FF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3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BB0AE-5B47-5C8C-9DD8-12E3D199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1C282C-6A3C-8497-8AC3-A85B7ED8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65E50-8F2F-DD06-D4F1-17D6D849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16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7A972-6C43-73FB-6F15-56C4AA4E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FCE9-15B4-D5D5-C6C5-D4E51FFD6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7621B-8BC5-999D-A5CD-74D6D7E5F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81149-85DF-83C0-EF39-45087AC30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B8201-27E9-84EA-3EBD-E1946F7E7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28F45-8172-14CB-0CD4-A2327B42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0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80AB-A369-A648-998E-5EC9F2C2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4AB09E-EA5F-9EBD-30D9-3CC874A94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A151F-F412-62DF-B09F-AB63C279B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ADBAE-77B7-1C32-E49A-7D454DC9F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59606-83EA-4C7E-6BB7-2A5A8792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6F843-2AB5-B759-F1F1-494F102DB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646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4FA7B-8687-1CFB-8C6B-034088AEB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E20B2-8B00-1E98-268B-404C92B29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34024-6C24-AF86-B0BF-E6333E152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A6274-B88C-D8D6-8467-3F91E07CC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01420-B569-B44F-23D8-C61C3770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898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AD648F-AB8E-E4A1-F069-C3D9395FF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C5E32-3938-2B79-FDF9-8928B4B89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97737-F845-F686-1F7E-FC1FDCAA4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C3905-77F0-DB4B-BEFE-08C99BAB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4FBD1-0444-91B2-99A9-61E3C3DE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52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CD5926-610A-2E8E-34D8-EE9ACF885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14249-E105-0C5B-59FF-B913208CF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27481-C0A4-9F79-16E5-C628A4CFF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E717B-FE25-F24E-B63D-5F52E4797203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3D951-EE01-D509-3068-68ED20C3D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87B54-E28B-230B-D9A0-FD18ACAE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75869-41EF-BC4C-8391-6C18412C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117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0FDAE-3EAD-E718-91A0-EB0D8043C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A947B-1D8E-5689-86C2-66608E686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F3944-1A0E-977A-D9B3-F1FA6B9BA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CC4A9-DDF5-DB46-A0D8-1DD00E90EA6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72A52-33CC-77DD-2AAE-F18C0E9D8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EAA59-EA14-B89B-33FD-55760E647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89188-FB67-4944-BFB4-01CF7A13C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5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E424F322-BBB7-9EF0-8145-9022181EAC08}"/>
              </a:ext>
            </a:extLst>
          </p:cNvPr>
          <p:cNvSpPr txBox="1"/>
          <p:nvPr/>
        </p:nvSpPr>
        <p:spPr>
          <a:xfrm>
            <a:off x="913940" y="542350"/>
            <a:ext cx="1036412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Automated Channel-Specific Cofactors for Transforming Flow Cytometry,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CyTOF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, and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Cytek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Data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rgbClr val="374151"/>
              </a:solidFill>
              <a:latin typeface="Söhne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Ahmad Alimadadi, Ph.D.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Söhne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Hedrick Laboratory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Immunology Centre of Georgia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08.29.24</a:t>
            </a:r>
          </a:p>
        </p:txBody>
      </p:sp>
    </p:spTree>
    <p:extLst>
      <p:ext uri="{BB962C8B-B14F-4D97-AF65-F5344CB8AC3E}">
        <p14:creationId xmlns:p14="http://schemas.microsoft.com/office/powerpoint/2010/main" val="238191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54EEEA-5125-B54A-9E5A-472451FD5DCB}"/>
              </a:ext>
            </a:extLst>
          </p:cNvPr>
          <p:cNvSpPr txBox="1"/>
          <p:nvPr/>
        </p:nvSpPr>
        <p:spPr>
          <a:xfrm>
            <a:off x="272716" y="265246"/>
            <a:ext cx="111251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432FF"/>
                </a:solidFill>
                <a:effectLst/>
                <a:latin typeface=".SF NS"/>
              </a:rPr>
              <a:t>Background</a:t>
            </a:r>
          </a:p>
          <a:p>
            <a:endParaRPr lang="en-US" sz="1600" dirty="0">
              <a:solidFill>
                <a:srgbClr val="0432FF"/>
              </a:solidFill>
              <a:latin typeface=".SF NS"/>
            </a:endParaRPr>
          </a:p>
          <a:p>
            <a:r>
              <a:rPr lang="en-US" sz="16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Flow Cytometry (FC) and Mass Cytometry (MC) </a:t>
            </a:r>
            <a:r>
              <a:rPr lang="en-US" sz="16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raw data </a:t>
            </a:r>
          </a:p>
          <a:p>
            <a:r>
              <a:rPr lang="en-US" sz="16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Skewed distributions </a:t>
            </a:r>
          </a:p>
          <a:p>
            <a:pPr marL="3143250" lvl="1" indent="-2651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ifficult to distinguish positive and negative populations</a:t>
            </a:r>
          </a:p>
          <a:p>
            <a:pPr marL="3143250" lvl="6" indent="-2651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Affects v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isualization and clustering performance</a:t>
            </a:r>
          </a:p>
          <a:p>
            <a:endParaRPr lang="en-US" sz="1600" dirty="0">
              <a:solidFill>
                <a:srgbClr val="1F1F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 is important to bring the expression peaks as </a:t>
            </a:r>
            <a:r>
              <a:rPr lang="en-US" sz="16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close to a normal distribution 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 possible.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transform the raw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734E7-E6F5-C25C-8789-EEEFDFD39BC5}"/>
              </a:ext>
            </a:extLst>
          </p:cNvPr>
          <p:cNvSpPr txBox="1"/>
          <p:nvPr/>
        </p:nvSpPr>
        <p:spPr>
          <a:xfrm>
            <a:off x="6196261" y="6547946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Rybakowska</a:t>
            </a:r>
            <a:r>
              <a:rPr lang="en-US" sz="11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et al., </a:t>
            </a:r>
            <a:r>
              <a:rPr lang="en-US" sz="11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Computational and Structural Biotechnology Journal</a:t>
            </a:r>
            <a:r>
              <a:rPr lang="en-US" sz="11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(2020)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C1A75-23DF-C349-94DF-175519D696B8}"/>
              </a:ext>
            </a:extLst>
          </p:cNvPr>
          <p:cNvSpPr txBox="1"/>
          <p:nvPr/>
        </p:nvSpPr>
        <p:spPr>
          <a:xfrm>
            <a:off x="272715" y="2660491"/>
            <a:ext cx="104487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FC data: </a:t>
            </a:r>
          </a:p>
          <a:p>
            <a:r>
              <a:rPr lang="en-US" sz="18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M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ore negative values</a:t>
            </a:r>
          </a:p>
          <a:p>
            <a:r>
              <a:rPr lang="en-US" sz="18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D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ue to the correction of background noise</a:t>
            </a:r>
          </a:p>
          <a:p>
            <a:r>
              <a:rPr lang="en-US" sz="18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A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utofluorescence</a:t>
            </a:r>
          </a:p>
          <a:p>
            <a:r>
              <a:rPr lang="en-US" sz="18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C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ompensation</a:t>
            </a:r>
          </a:p>
          <a:p>
            <a:r>
              <a:rPr lang="en-US" sz="18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MC data:</a:t>
            </a:r>
          </a:p>
          <a:p>
            <a:r>
              <a:rPr lang="en-US" sz="18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Few negative values and it contains zero values when no ions are detected</a:t>
            </a:r>
          </a:p>
        </p:txBody>
      </p:sp>
    </p:spTree>
    <p:extLst>
      <p:ext uri="{BB962C8B-B14F-4D97-AF65-F5344CB8AC3E}">
        <p14:creationId xmlns:p14="http://schemas.microsoft.com/office/powerpoint/2010/main" val="415815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D7AA5426-DD98-72CF-A132-EAFA36DD0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5" y="2326629"/>
            <a:ext cx="4294013" cy="3721800"/>
          </a:xfrm>
          <a:prstGeom prst="rect">
            <a:avLst/>
          </a:prstGeom>
        </p:spPr>
      </p:pic>
      <p:pic>
        <p:nvPicPr>
          <p:cNvPr id="9" name="Picture 8" descr="A black and white text&#10;&#10;Description automatically generated">
            <a:extLst>
              <a:ext uri="{FF2B5EF4-FFF2-40B4-BE49-F238E27FC236}">
                <a16:creationId xmlns:a16="http://schemas.microsoft.com/office/drawing/2014/main" id="{C32CC94D-7BC4-0422-E585-BBB75096F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82" y="1594398"/>
            <a:ext cx="4116786" cy="492919"/>
          </a:xfrm>
          <a:prstGeom prst="rect">
            <a:avLst/>
          </a:prstGeom>
        </p:spPr>
      </p:pic>
      <p:pic>
        <p:nvPicPr>
          <p:cNvPr id="13" name="Picture 12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F41B1E3A-CA76-D1F2-0D9B-9774C8EE4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465" y="3052634"/>
            <a:ext cx="2323676" cy="201402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C31AE6A-877B-FB4D-F9F7-370484A13AD3}"/>
              </a:ext>
            </a:extLst>
          </p:cNvPr>
          <p:cNvSpPr txBox="1"/>
          <p:nvPr/>
        </p:nvSpPr>
        <p:spPr>
          <a:xfrm>
            <a:off x="5121046" y="2612438"/>
            <a:ext cx="2622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 to 1000 original value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08A2DB-C58C-14BC-F774-DE0DA663C9D5}"/>
              </a:ext>
            </a:extLst>
          </p:cNvPr>
          <p:cNvSpPr txBox="1"/>
          <p:nvPr/>
        </p:nvSpPr>
        <p:spPr>
          <a:xfrm>
            <a:off x="428482" y="24556"/>
            <a:ext cx="10996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Types of transformation: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og transformation, biexponential,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yperlog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eneralized Box-Cox,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Logicle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rcsinh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D03EFC-6D06-2581-8EF8-4648B19CF035}"/>
              </a:ext>
            </a:extLst>
          </p:cNvPr>
          <p:cNvSpPr txBox="1"/>
          <p:nvPr/>
        </p:nvSpPr>
        <p:spPr>
          <a:xfrm>
            <a:off x="428482" y="440145"/>
            <a:ext cx="114788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0432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Inverse hyperbolic sine (</a:t>
            </a:r>
            <a:r>
              <a:rPr lang="en-US" sz="1800" b="0" dirty="0" err="1">
                <a:solidFill>
                  <a:srgbClr val="0432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arcsinh</a:t>
            </a:r>
            <a:r>
              <a:rPr lang="en-US" sz="1800" b="0" dirty="0">
                <a:solidFill>
                  <a:srgbClr val="0432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858838" indent="-10953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600" dirty="0" err="1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Arcsinh</a:t>
            </a:r>
            <a:r>
              <a:rPr lang="en-US" sz="16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behaves similarly to a log transformation at high values and is approximately linear for values up to the cofactor.</a:t>
            </a:r>
          </a:p>
          <a:p>
            <a:pPr marL="858838" indent="-10953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The cofactor controls the width of the linear region</a:t>
            </a:r>
          </a:p>
          <a:p>
            <a:pPr marL="858838" indent="-10953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600" b="0" dirty="0">
                <a:solidFill>
                  <a:srgbClr val="1F1F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Cofactor 5 or 150 for MC and FC, respectively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B17380E-5FB8-8C90-51B7-F161C9930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4754" y="4322265"/>
            <a:ext cx="3373736" cy="1341934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6C81484-06D1-5F33-B008-C94207F681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754" y="2612438"/>
            <a:ext cx="3369410" cy="14520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3CC657-CAE9-1515-8B19-26B3FF41529B}"/>
              </a:ext>
            </a:extLst>
          </p:cNvPr>
          <p:cNvSpPr txBox="1"/>
          <p:nvPr/>
        </p:nvSpPr>
        <p:spPr>
          <a:xfrm>
            <a:off x="9095554" y="2114198"/>
            <a:ext cx="2067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on </a:t>
            </a:r>
            <a:r>
              <a:rPr lang="en-US" dirty="0" err="1"/>
              <a:t>FlowJo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49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7AEF7B-9677-B0B8-C099-AF45CB2556B4}"/>
              </a:ext>
            </a:extLst>
          </p:cNvPr>
          <p:cNvSpPr txBox="1"/>
          <p:nvPr/>
        </p:nvSpPr>
        <p:spPr>
          <a:xfrm>
            <a:off x="186423" y="174504"/>
            <a:ext cx="115342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Transformation strategies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(selecting the parameters)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0A01AF-09EF-0C8A-4289-78CCFAF9B6B9}"/>
              </a:ext>
            </a:extLst>
          </p:cNvPr>
          <p:cNvSpPr txBox="1"/>
          <p:nvPr/>
        </p:nvSpPr>
        <p:spPr>
          <a:xfrm>
            <a:off x="1095271" y="996831"/>
            <a:ext cx="59756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FF40F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114550" marR="0" lvl="4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432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Advantages: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latin typeface=".SF NS"/>
              </a:rPr>
              <a:t>Customization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latin typeface=".SF NS"/>
              </a:rPr>
              <a:t>Expert insight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432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Disadvantage: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latin typeface=".SF NS"/>
              </a:rPr>
              <a:t>Time-consuming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latin typeface=".SF NS"/>
              </a:rPr>
              <a:t>Inconsistency between users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latin typeface=".SF NS"/>
              </a:rPr>
              <a:t>Not scalable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latin typeface=".SF NS"/>
              </a:rPr>
              <a:t>Could be biased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C9D93-986F-49A6-FE72-51D8120E19AB}"/>
              </a:ext>
            </a:extLst>
          </p:cNvPr>
          <p:cNvSpPr txBox="1"/>
          <p:nvPr/>
        </p:nvSpPr>
        <p:spPr>
          <a:xfrm>
            <a:off x="1095270" y="3636820"/>
            <a:ext cx="111758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Automated 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432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Advantages: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latin typeface=".SF NS"/>
              </a:rPr>
              <a:t>Time-efficient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latin typeface=".SF NS"/>
              </a:rPr>
              <a:t>Consistent between users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latin typeface=".SF NS"/>
              </a:rPr>
              <a:t>Scalable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effectLst/>
                <a:latin typeface=".SF NS"/>
              </a:rPr>
              <a:t>Objective and reproducible</a:t>
            </a:r>
            <a:endParaRPr lang="en-US" sz="1600" dirty="0">
              <a:solidFill>
                <a:srgbClr val="0E0E0E"/>
              </a:solidFill>
              <a:latin typeface=".SF NS"/>
            </a:endParaRP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432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Disadvantage: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latin typeface=".SF NS"/>
              </a:rPr>
              <a:t>Less transparent (can be solved with outputs and visualizations)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0E0E"/>
                </a:solidFill>
                <a:latin typeface=".SF NS"/>
              </a:rPr>
              <a:t>Less control</a:t>
            </a:r>
            <a:endParaRPr lang="en-US" sz="1600" dirty="0">
              <a:solidFill>
                <a:srgbClr val="0432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DA5AA-11CE-BB84-E62F-5B5A2619930E}"/>
              </a:ext>
            </a:extLst>
          </p:cNvPr>
          <p:cNvSpPr txBox="1"/>
          <p:nvPr/>
        </p:nvSpPr>
        <p:spPr>
          <a:xfrm>
            <a:off x="2050421" y="721613"/>
            <a:ext cx="609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40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Global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—the same parameters for all channel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40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Channel-specific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10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23F936-8A4C-8D84-411E-8B382D656154}"/>
              </a:ext>
            </a:extLst>
          </p:cNvPr>
          <p:cNvSpPr txBox="1"/>
          <p:nvPr/>
        </p:nvSpPr>
        <p:spPr>
          <a:xfrm>
            <a:off x="140677" y="564629"/>
            <a:ext cx="112541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Some tools for automated channel-specific transformation: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flowTrans</a:t>
            </a:r>
            <a: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(estimates transformation parameters for each sample by maximizing the likelihood of data being generated by a multivariate-normal distribution on the transformed scale)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flowScape</a:t>
            </a:r>
            <a: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(optimizes the normalization factor of </a:t>
            </a:r>
            <a:r>
              <a:rPr lang="en-US" sz="12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asinh</a:t>
            </a:r>
            <a:r>
              <a:rPr lang="en-US" sz="1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transformation by the Jarque-Bera test of normality)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FCSTrans</a:t>
            </a:r>
            <a: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selects the parameters of the linear, logarithm, and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logicle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transformations with an extensive set of simulations)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FlowVS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(stabilizes the variance within cell populations in each fluorescence channel for the entire collection of samples)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87DD4-D26E-1E01-AB10-CE6116884109}"/>
              </a:ext>
            </a:extLst>
          </p:cNvPr>
          <p:cNvSpPr txBox="1"/>
          <p:nvPr/>
        </p:nvSpPr>
        <p:spPr>
          <a:xfrm>
            <a:off x="7841300" y="6438665"/>
            <a:ext cx="26549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effectLst/>
                <a:latin typeface="Helvetica" pitchFamily="2" charset="0"/>
              </a:rPr>
              <a:t>Azad et al., BMC Bioinformatics (2016</a:t>
            </a:r>
            <a:r>
              <a:rPr lang="en-US" sz="1100" i="1" dirty="0">
                <a:latin typeface="Helvetica" pitchFamily="2" charset="0"/>
              </a:rPr>
              <a:t>)</a:t>
            </a:r>
            <a:endParaRPr lang="en-US" sz="11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476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B6968D-453E-EDDF-22D6-F7485E545DBF}"/>
              </a:ext>
            </a:extLst>
          </p:cNvPr>
          <p:cNvSpPr txBox="1"/>
          <p:nvPr/>
        </p:nvSpPr>
        <p:spPr>
          <a:xfrm>
            <a:off x="497305" y="448725"/>
            <a:ext cx="107241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FlowVS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tabilizes the variance within cell populations in each fluorescence channel for the entire collection of samples.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Normalizing data may not necessarily stabilize its variance.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graph with numbers and dots&#10;&#10;Description automatically generated">
            <a:extLst>
              <a:ext uri="{FF2B5EF4-FFF2-40B4-BE49-F238E27FC236}">
                <a16:creationId xmlns:a16="http://schemas.microsoft.com/office/drawing/2014/main" id="{D2CFAB27-E53A-0496-1FC3-8ABDF3DB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148" y="1237241"/>
            <a:ext cx="2379680" cy="17405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6F9F89-8FF5-7B93-A933-D4D8F788E3CB}"/>
              </a:ext>
            </a:extLst>
          </p:cNvPr>
          <p:cNvSpPr txBox="1"/>
          <p:nvPr/>
        </p:nvSpPr>
        <p:spPr>
          <a:xfrm>
            <a:off x="7765100" y="6193132"/>
            <a:ext cx="26549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effectLst/>
                <a:latin typeface="Helvetica" pitchFamily="2" charset="0"/>
              </a:rPr>
              <a:t>Azad et al., BMC Bioinformatics (2016</a:t>
            </a:r>
            <a:r>
              <a:rPr lang="en-US" sz="1100" i="1" dirty="0">
                <a:latin typeface="Helvetica" pitchFamily="2" charset="0"/>
              </a:rPr>
              <a:t>)</a:t>
            </a:r>
            <a:endParaRPr lang="en-US" sz="1100" dirty="0">
              <a:effectLst/>
              <a:latin typeface="Helvetica" pitchFamily="2" charset="0"/>
            </a:endParaRPr>
          </a:p>
        </p:txBody>
      </p:sp>
      <p:pic>
        <p:nvPicPr>
          <p:cNvPr id="3" name="Picture 2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7FE6BADC-BCD0-D21B-5C6D-6F1F3DFA8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945" y="3999699"/>
            <a:ext cx="1105781" cy="2046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D3173B-6061-F350-20DF-3105B87E03A4}"/>
              </a:ext>
            </a:extLst>
          </p:cNvPr>
          <p:cNvSpPr txBox="1"/>
          <p:nvPr/>
        </p:nvSpPr>
        <p:spPr>
          <a:xfrm>
            <a:off x="497305" y="4653403"/>
            <a:ext cx="3258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Every peak is a cell population.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BAFCC5-9237-CC55-F683-6795E6BACC10}"/>
              </a:ext>
            </a:extLst>
          </p:cNvPr>
          <p:cNvSpPr txBox="1"/>
          <p:nvPr/>
        </p:nvSpPr>
        <p:spPr>
          <a:xfrm>
            <a:off x="497305" y="1777478"/>
            <a:ext cx="113898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origin of the problem: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Variance of the fluorescence signal increases with the average signal Intensity.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Variance stabilization (VS) is a process for dissociating data variability from mean signals.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8C4727-C7A4-F167-7CCA-3CBB88A4348E}"/>
              </a:ext>
            </a:extLst>
          </p:cNvPr>
          <p:cNvSpPr txBox="1"/>
          <p:nvPr/>
        </p:nvSpPr>
        <p:spPr>
          <a:xfrm>
            <a:off x="497305" y="3418529"/>
            <a:ext cx="9226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Enabling standard statistical methods to be applied  for between-population comparisons </a:t>
            </a:r>
          </a:p>
        </p:txBody>
      </p:sp>
    </p:spTree>
    <p:extLst>
      <p:ext uri="{BB962C8B-B14F-4D97-AF65-F5344CB8AC3E}">
        <p14:creationId xmlns:p14="http://schemas.microsoft.com/office/powerpoint/2010/main" val="62484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3C6785-DDB1-0C29-E111-37453AEE2FAA}"/>
              </a:ext>
            </a:extLst>
          </p:cNvPr>
          <p:cNvSpPr txBox="1"/>
          <p:nvPr/>
        </p:nvSpPr>
        <p:spPr>
          <a:xfrm>
            <a:off x="762595" y="686871"/>
            <a:ext cx="8824318" cy="2960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432FF"/>
                </a:solidFill>
                <a:effectLst/>
                <a:latin typeface="Helvetica" pitchFamily="2" charset="0"/>
              </a:rPr>
              <a:t>FlowVS</a:t>
            </a:r>
            <a:r>
              <a:rPr lang="en-US" dirty="0">
                <a:solidFill>
                  <a:srgbClr val="0432FF"/>
                </a:solidFill>
                <a:effectLst/>
                <a:latin typeface="Helvetica" pitchFamily="2" charset="0"/>
              </a:rPr>
              <a:t> workflow:</a:t>
            </a:r>
            <a:endParaRPr lang="en-US" dirty="0">
              <a:effectLst/>
              <a:latin typeface="Helvetica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Transforming each channel in each sample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Detecting density peaks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Collecting density peaks from all samples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Computing </a:t>
            </a:r>
            <a:r>
              <a:rPr lang="en-US" dirty="0">
                <a:latin typeface="Helvetica" pitchFamily="2" charset="0"/>
              </a:rPr>
              <a:t>Bartlett’s test statistic (testing homogeneity of variances)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Repeating the above steps for a range of cofactors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Finding a cofactor for optimum VS (minimum value of Bartlett’s statistic)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567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41D474-38C9-73E5-7819-F795791F8241}"/>
              </a:ext>
            </a:extLst>
          </p:cNvPr>
          <p:cNvSpPr txBox="1"/>
          <p:nvPr/>
        </p:nvSpPr>
        <p:spPr>
          <a:xfrm>
            <a:off x="220436" y="135102"/>
            <a:ext cx="67058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Comparing </a:t>
            </a:r>
            <a:r>
              <a:rPr lang="en-US" dirty="0" err="1"/>
              <a:t>FlowVS</a:t>
            </a:r>
            <a:r>
              <a:rPr lang="en-US" dirty="0"/>
              <a:t> with other tools in terms of variance stabilizing</a:t>
            </a:r>
          </a:p>
          <a:p>
            <a:endParaRPr lang="en-US" dirty="0"/>
          </a:p>
          <a:p>
            <a:r>
              <a:rPr lang="en-US" dirty="0" err="1">
                <a:solidFill>
                  <a:srgbClr val="0432FF"/>
                </a:solidFill>
              </a:rPr>
              <a:t>FlowVS</a:t>
            </a:r>
            <a:r>
              <a:rPr lang="en-US" dirty="0">
                <a:solidFill>
                  <a:srgbClr val="0432FF"/>
                </a:solidFill>
              </a:rPr>
              <a:t> doesn’t try to match the MFI of peaks between samples.  </a:t>
            </a:r>
          </a:p>
        </p:txBody>
      </p:sp>
      <p:pic>
        <p:nvPicPr>
          <p:cNvPr id="8" name="Picture 7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8EFD1988-3AFB-1FAA-154C-8A967DA61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7" y="1764197"/>
            <a:ext cx="5877593" cy="3996196"/>
          </a:xfrm>
          <a:prstGeom prst="rect">
            <a:avLst/>
          </a:prstGeom>
        </p:spPr>
      </p:pic>
      <p:pic>
        <p:nvPicPr>
          <p:cNvPr id="10" name="Picture 9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BB884F6F-316E-B151-D498-019A34A71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4196"/>
            <a:ext cx="6083300" cy="39600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2080D3-0AA4-5B9A-CE57-E969446479B4}"/>
              </a:ext>
            </a:extLst>
          </p:cNvPr>
          <p:cNvSpPr txBox="1"/>
          <p:nvPr/>
        </p:nvSpPr>
        <p:spPr>
          <a:xfrm>
            <a:off x="9453575" y="6487046"/>
            <a:ext cx="26549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effectLst/>
                <a:latin typeface="Helvetica" pitchFamily="2" charset="0"/>
              </a:rPr>
              <a:t>Azad et al., BMC Bioinformatics (2016</a:t>
            </a:r>
            <a:r>
              <a:rPr lang="en-US" sz="1100" i="1" dirty="0">
                <a:latin typeface="Helvetica" pitchFamily="2" charset="0"/>
              </a:rPr>
              <a:t>)</a:t>
            </a:r>
            <a:endParaRPr lang="en-US" sz="1100" dirty="0">
              <a:effectLst/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166FD-3E83-2F85-ADE2-BA0F4C30D69C}"/>
              </a:ext>
            </a:extLst>
          </p:cNvPr>
          <p:cNvSpPr txBox="1"/>
          <p:nvPr/>
        </p:nvSpPr>
        <p:spPr>
          <a:xfrm>
            <a:off x="2334986" y="1279307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60DC92-2D34-4F7E-9D05-16DA7B670953}"/>
              </a:ext>
            </a:extLst>
          </p:cNvPr>
          <p:cNvSpPr txBox="1"/>
          <p:nvPr/>
        </p:nvSpPr>
        <p:spPr>
          <a:xfrm>
            <a:off x="9066893" y="1279307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2</a:t>
            </a:r>
          </a:p>
        </p:txBody>
      </p:sp>
    </p:spTree>
    <p:extLst>
      <p:ext uri="{BB962C8B-B14F-4D97-AF65-F5344CB8AC3E}">
        <p14:creationId xmlns:p14="http://schemas.microsoft.com/office/powerpoint/2010/main" val="2503256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1773</TotalTime>
  <Words>533</Words>
  <Application>Microsoft Macintosh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.SF NS</vt:lpstr>
      <vt:lpstr>Aptos</vt:lpstr>
      <vt:lpstr>Aptos Display</vt:lpstr>
      <vt:lpstr>Arial</vt:lpstr>
      <vt:lpstr>Calibri</vt:lpstr>
      <vt:lpstr>Calibri Light</vt:lpstr>
      <vt:lpstr>Helvetica</vt:lpstr>
      <vt:lpstr>Söhne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Alimadadi, Ahmad</dc:creator>
  <cp:lastModifiedBy>Alimadadi, Ahmad</cp:lastModifiedBy>
  <cp:revision>101</cp:revision>
  <dcterms:created xsi:type="dcterms:W3CDTF">2024-07-14T00:11:18Z</dcterms:created>
  <dcterms:modified xsi:type="dcterms:W3CDTF">2024-08-29T17:46:53Z</dcterms:modified>
</cp:coreProperties>
</file>